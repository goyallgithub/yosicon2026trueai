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82880" cy="6858000"/>
          </a:xfrm>
          <a:prstGeom prst="rect">
            <a:avLst/>
          </a:prstGeom>
          <a:solidFill>
            <a:srgbClr val="104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37160" cy="6858000"/>
          </a:xfrm>
          <a:prstGeom prst="rect">
            <a:avLst/>
          </a:prstGeom>
          <a:solidFill>
            <a:srgbClr val="F0C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C020"/>
                </a:solidFill>
                <a:latin typeface="Arial"/>
              </a:defRPr>
            </a:pPr>
            <a:r>
              <a:t>OPHTHALMOLOGY · VOICE ·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TRUECOMPLAINT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0E0E0"/>
                </a:solidFill>
                <a:latin typeface="Arial"/>
              </a:defRPr>
            </a:pPr>
            <a:r>
              <a:t>Voice Meets Medicine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Minimal clinical intake · Structured doctor handoff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828800"/>
            <a:ext cx="2560320" cy="2560320"/>
          </a:xfrm>
          <a:prstGeom prst="rect">
            <a:avLst/>
          </a:prstGeom>
          <a:solidFill>
            <a:srgbClr val="1040C0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0" y="2468880"/>
            <a:ext cx="128016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02020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21212"/>
                </a:solidFill>
                <a:latin typeface="Arial"/>
              </a:defRPr>
            </a:pPr>
            <a:r>
              <a:t>INTAKE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65760"/>
            <a:ext cx="1097280" cy="1097280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5303520"/>
            <a:ext cx="822960" cy="822960"/>
          </a:xfrm>
          <a:prstGeom prst="ellipse">
            <a:avLst/>
          </a:prstGeom>
          <a:solidFill>
            <a:srgbClr val="F0C020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502920" cy="502920"/>
          </a:xfrm>
          <a:prstGeom prst="rect">
            <a:avLst/>
          </a:prstGeom>
          <a:solidFill>
            <a:srgbClr val="104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121212"/>
                </a:solidFill>
                <a:latin typeface="Arial"/>
              </a:defRPr>
            </a:pPr>
            <a:r>
              <a:t>Long paper forms patients don't understand</a:t>
            </a:r>
          </a:p>
          <a:p>
            <a:pPr>
              <a:spcAft>
                <a:spcPts val="1400"/>
              </a:spcAft>
              <a:defRPr sz="2200" b="0">
                <a:solidFill>
                  <a:srgbClr val="121212"/>
                </a:solidFill>
                <a:latin typeface="Arial"/>
              </a:defRPr>
            </a:pPr>
            <a:r>
              <a:t>Doctors miss critical history under time pressure</a:t>
            </a:r>
          </a:p>
          <a:p>
            <a:pPr>
              <a:spcAft>
                <a:spcPts val="1400"/>
              </a:spcAft>
              <a:defRPr sz="2200" b="0">
                <a:solidFill>
                  <a:srgbClr val="121212"/>
                </a:solidFill>
                <a:latin typeface="Arial"/>
              </a:defRPr>
            </a:pPr>
            <a:r>
              <a:t>Language barriers in eye clinics (Hindi / Tamil / English)</a:t>
            </a:r>
          </a:p>
          <a:p>
            <a:pPr>
              <a:spcAft>
                <a:spcPts val="1400"/>
              </a:spcAft>
              <a:defRPr sz="2200" b="0">
                <a:solidFill>
                  <a:srgbClr val="121212"/>
                </a:solidFill>
                <a:latin typeface="Arial"/>
              </a:defRPr>
            </a:pPr>
            <a:r>
              <a:t>No structured handoff from patient to physician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011680"/>
            <a:ext cx="457200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286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02020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74320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1212"/>
                </a:solidFill>
                <a:latin typeface="Arial"/>
              </a:defRPr>
            </a:pPr>
            <a:r>
              <a:t>Delayed care.</a:t>
            </a:r>
            <a:br/>
            <a:r>
              <a:t>Lost details.</a:t>
            </a:r>
            <a:br/>
            <a:r>
              <a:t>Repeat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02020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21212"/>
                </a:solidFill>
                <a:latin typeface="Arial"/>
              </a:defRPr>
            </a:pPr>
            <a:r>
              <a:t>RAKSHAK AI INTAKE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65760"/>
            <a:ext cx="1097280" cy="1097280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5303520"/>
            <a:ext cx="822960" cy="822960"/>
          </a:xfrm>
          <a:prstGeom prst="ellipse">
            <a:avLst/>
          </a:prstGeom>
          <a:solidFill>
            <a:srgbClr val="F0C020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502920" cy="502920"/>
          </a:xfrm>
          <a:prstGeom prst="rect">
            <a:avLst/>
          </a:prstGeom>
          <a:solidFill>
            <a:srgbClr val="104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329184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3291840" cy="457200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1212"/>
                </a:solidFill>
                <a:latin typeface="Arial"/>
              </a:defRPr>
            </a:pPr>
            <a:r>
              <a:t>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21212"/>
                </a:solidFill>
                <a:latin typeface="Arial"/>
              </a:defRPr>
            </a:pPr>
            <a:r>
              <a:t>2–3 min call with Rakshak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103120"/>
            <a:ext cx="329184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103120"/>
            <a:ext cx="3291840" cy="457200"/>
          </a:xfrm>
          <a:prstGeom prst="rect">
            <a:avLst/>
          </a:prstGeom>
          <a:solidFill>
            <a:srgbClr val="104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1212"/>
                </a:solidFill>
                <a:latin typeface="Arial"/>
              </a:defRPr>
            </a:pPr>
            <a:r>
              <a:t>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21212"/>
                </a:solidFill>
                <a:latin typeface="Arial"/>
              </a:defRPr>
            </a:pPr>
            <a:r>
              <a:t>Ophthalmology sheet for doctor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29184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3291840" cy="457200"/>
          </a:xfrm>
          <a:prstGeom prst="rect">
            <a:avLst/>
          </a:prstGeom>
          <a:solidFill>
            <a:srgbClr val="F0C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1212"/>
                </a:solidFill>
                <a:latin typeface="Arial"/>
              </a:defRPr>
            </a:pPr>
            <a:r>
              <a:t>EMR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21212"/>
                </a:solidFill>
                <a:latin typeface="Arial"/>
              </a:defRPr>
            </a:pPr>
            <a:r>
              <a:t>5 patients · AI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02020"/>
                </a:solidFill>
                <a:latin typeface="Arial"/>
              </a:defRPr>
            </a:pPr>
            <a:r>
              <a:t>PATIENT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21212"/>
                </a:solidFill>
                <a:latin typeface="Arial"/>
              </a:defRPr>
            </a:pPr>
            <a:r>
              <a:t>CALL WITH RAKSHAK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65760"/>
            <a:ext cx="1097280" cy="1097280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5303520"/>
            <a:ext cx="822960" cy="822960"/>
          </a:xfrm>
          <a:prstGeom prst="ellipse">
            <a:avLst/>
          </a:prstGeom>
          <a:solidFill>
            <a:srgbClr val="F0C020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502920" cy="502920"/>
          </a:xfrm>
          <a:prstGeom prst="rect">
            <a:avLst/>
          </a:prstGeom>
          <a:solidFill>
            <a:srgbClr val="104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solidFill>
            <a:srgbClr val="D02020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65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1212"/>
                </a:solidFill>
                <a:latin typeface="Arial"/>
              </a:defRPr>
            </a:pPr>
            <a:r>
              <a:t>CHOOSE 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solidFill>
            <a:srgbClr val="1040C0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34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1212"/>
                </a:solidFill>
                <a:latin typeface="Arial"/>
              </a:defRPr>
            </a:pPr>
            <a:r>
              <a:t>LIVE CAMERA + MIC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57600"/>
            <a:ext cx="502920" cy="502920"/>
          </a:xfrm>
          <a:prstGeom prst="rect">
            <a:avLst/>
          </a:prstGeom>
          <a:solidFill>
            <a:srgbClr val="D02020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03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1212"/>
                </a:solidFill>
                <a:latin typeface="Arial"/>
              </a:defRPr>
            </a:pPr>
            <a:r>
              <a:t>7 EYE INTAKE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526279"/>
            <a:ext cx="502920" cy="502920"/>
          </a:xfrm>
          <a:prstGeom prst="rect">
            <a:avLst/>
          </a:prstGeom>
          <a:solidFill>
            <a:srgbClr val="1040C0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7199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5719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1212"/>
                </a:solidFill>
                <a:latin typeface="Arial"/>
              </a:defRPr>
            </a:pPr>
            <a:r>
              <a:t>REPORT SENT TO DOCTOR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94960"/>
            <a:ext cx="502920" cy="502920"/>
          </a:xfrm>
          <a:prstGeom prst="rect">
            <a:avLst/>
          </a:prstGeom>
          <a:solidFill>
            <a:srgbClr val="D02020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440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1212"/>
                </a:solidFill>
                <a:latin typeface="Arial"/>
              </a:defRPr>
            </a:pPr>
            <a:r>
              <a:t>DAWAI VOICE GUIDE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011680"/>
            <a:ext cx="4114800" cy="4114800"/>
          </a:xfrm>
          <a:prstGeom prst="rect">
            <a:avLst/>
          </a:prstGeom>
          <a:solidFill>
            <a:srgbClr val="1040C0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237744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rial"/>
              </a:defRPr>
            </a:pPr>
            <a:r>
              <a:t>Hindi · English · Tamil</a:t>
            </a:r>
            <a:br/>
            <a:br/>
            <a:r>
              <a:t>OpenAI Realtime</a:t>
            </a:r>
            <a:br/>
            <a:r>
              <a:t>WebRTC voice</a:t>
            </a:r>
            <a:br/>
            <a:br/>
            <a:r>
              <a:t>Natural TTS</a:t>
            </a:r>
            <a:br/>
            <a:r>
              <a:t>gpt-4o-mini-tts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02020"/>
                </a:solidFill>
                <a:latin typeface="Arial"/>
              </a:defRPr>
            </a:pPr>
            <a:r>
              <a:t>EYE CLINIC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21212"/>
                </a:solidFill>
                <a:latin typeface="Arial"/>
              </a:defRPr>
            </a:pPr>
            <a:r>
              <a:t>DECREASED VISION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65760"/>
            <a:ext cx="1097280" cy="1097280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5303520"/>
            <a:ext cx="822960" cy="822960"/>
          </a:xfrm>
          <a:prstGeom prst="ellipse">
            <a:avLst/>
          </a:prstGeom>
          <a:solidFill>
            <a:srgbClr val="F0C020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502920" cy="502920"/>
          </a:xfrm>
          <a:prstGeom prst="rect">
            <a:avLst/>
          </a:prstGeom>
          <a:solidFill>
            <a:srgbClr val="104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Chief complaint &amp; duration</a:t>
            </a:r>
          </a:p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Pain · Redness · Discharge · Floaters</a:t>
            </a:r>
          </a:p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Onset — sudden / trauma</a:t>
            </a:r>
          </a:p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Prior ophthalmic care</a:t>
            </a:r>
          </a:p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Past ocular surgery</a:t>
            </a:r>
          </a:p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Systemic disease (DM, HTN…)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920240"/>
            <a:ext cx="4297680" cy="1828800"/>
          </a:xfrm>
          <a:prstGeom prst="rect">
            <a:avLst/>
          </a:prstGeom>
          <a:solidFill>
            <a:srgbClr val="F0C020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19456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212"/>
                </a:solidFill>
                <a:latin typeface="Arial"/>
              </a:defRPr>
            </a:pPr>
            <a:r>
              <a:t>DO NOT MISS</a:t>
            </a:r>
            <a:br/>
            <a:r>
              <a:t>Highlights auto-generated for physician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C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C020"/>
                </a:solidFill>
                <a:latin typeface="Arial"/>
              </a:defRPr>
            </a:pPr>
            <a:r>
              <a:t>PHYSICIAN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CLINICAL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212"/>
                </a:solidFill>
                <a:latin typeface="Arial"/>
              </a:defRPr>
            </a:pPr>
            <a:r>
              <a:t>CC / HPI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2011680"/>
            <a:ext cx="338328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2468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212"/>
                </a:solidFill>
                <a:latin typeface="Arial"/>
              </a:defRPr>
            </a:pPr>
            <a:r>
              <a:t>Associated Sx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011680"/>
            <a:ext cx="338328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468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212"/>
                </a:solidFill>
                <a:latin typeface="Arial"/>
              </a:defRPr>
            </a:pPr>
            <a:r>
              <a:t>POH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338328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212"/>
                </a:solidFill>
                <a:latin typeface="Arial"/>
              </a:defRPr>
            </a:pPr>
            <a:r>
              <a:t>DDx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4023360"/>
            <a:ext cx="338328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4480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212"/>
                </a:solidFill>
                <a:latin typeface="Arial"/>
              </a:defRPr>
            </a:pPr>
            <a:r>
              <a:t>Imaging ·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Medical English · Urgency triage · Voice transcript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02020"/>
                </a:solidFill>
                <a:latin typeface="Arial"/>
              </a:defRPr>
            </a:pPr>
            <a:r>
              <a:t>EMR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21212"/>
                </a:solidFill>
                <a:latin typeface="Arial"/>
              </a:defRPr>
            </a:pPr>
            <a:r>
              <a:t>5 HARDCODED PATIENTS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65760"/>
            <a:ext cx="1097280" cy="1097280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5303520"/>
            <a:ext cx="822960" cy="822960"/>
          </a:xfrm>
          <a:prstGeom prst="ellipse">
            <a:avLst/>
          </a:prstGeom>
          <a:solidFill>
            <a:srgbClr val="F0C020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502920" cy="502920"/>
          </a:xfrm>
          <a:prstGeom prst="rect">
            <a:avLst/>
          </a:prstGeom>
          <a:solidFill>
            <a:srgbClr val="104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Cataract · Retinal detachment rule-out</a:t>
            </a:r>
          </a:p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Conjunctivitis · Glaucoma F/U · Trauma</a:t>
            </a:r>
          </a:p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AI clinical assistant (voice + text)</a:t>
            </a:r>
          </a:p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Pre-consultation summary in seconds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029200" cy="39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40C0"/>
                </a:solidFill>
                <a:latin typeface="Arial"/>
              </a:defRPr>
            </a:pPr>
            <a:r>
              <a:t>SAVES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1212"/>
                </a:solidFill>
                <a:latin typeface="Arial"/>
              </a:defRPr>
            </a:pPr>
            <a:r>
              <a:t>Doctor connects with patient history before entering the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02020"/>
                </a:solidFill>
                <a:latin typeface="Arial"/>
              </a:defRPr>
            </a:pPr>
            <a:r>
              <a:t>PATIENT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21212"/>
                </a:solidFill>
                <a:latin typeface="Arial"/>
              </a:defRPr>
            </a:pPr>
            <a:r>
              <a:t>DAWAI VOICE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65760"/>
            <a:ext cx="1097280" cy="1097280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5303520"/>
            <a:ext cx="822960" cy="822960"/>
          </a:xfrm>
          <a:prstGeom prst="ellipse">
            <a:avLst/>
          </a:prstGeom>
          <a:solidFill>
            <a:srgbClr val="F0C020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502920" cy="502920"/>
          </a:xfrm>
          <a:prstGeom prst="rect">
            <a:avLst/>
          </a:prstGeom>
          <a:solidFill>
            <a:srgbClr val="104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21212"/>
                </a:solidFill>
                <a:latin typeface="Arial"/>
              </a:defRPr>
            </a:pPr>
            <a:r>
              <a:t>Structured prescription in simple Hinglish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"Aap ye drop din mein 3 baar daalein"</a:t>
            </a:r>
          </a:p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Suno · Sab suno — natural OpenAI voice</a:t>
            </a:r>
          </a:p>
          <a:p>
            <a:pPr>
              <a:spcAft>
                <a:spcPts val="1400"/>
              </a:spcAft>
              <a:defRPr sz="2000" b="0">
                <a:solidFill>
                  <a:srgbClr val="121212"/>
                </a:solidFill>
                <a:latin typeface="Arial"/>
              </a:defRPr>
            </a:pPr>
            <a:r>
              <a:t>Precautions + follow-up read aloud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286000"/>
            <a:ext cx="4389120" cy="3200400"/>
          </a:xfrm>
          <a:prstGeom prst="rect">
            <a:avLst/>
          </a:prstGeom>
          <a:solidFill>
            <a:srgbClr val="D02020"/>
          </a:solidFill>
          <a:ln w="381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7432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Patient</a:t>
            </a:r>
            <a:br/>
            <a:r>
              <a:t>understands</a:t>
            </a:r>
            <a:br/>
            <a:r>
              <a:t>medicine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02020"/>
                </a:solidFill>
                <a:latin typeface="Arial"/>
              </a:defRPr>
            </a:pPr>
            <a: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21212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65760"/>
            <a:ext cx="1097280" cy="1097280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5303520"/>
            <a:ext cx="822960" cy="822960"/>
          </a:xfrm>
          <a:prstGeom prst="ellipse">
            <a:avLst/>
          </a:prstGeom>
          <a:solidFill>
            <a:srgbClr val="F0C020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502920" cy="502920"/>
          </a:xfrm>
          <a:prstGeom prst="rect">
            <a:avLst/>
          </a:prstGeom>
          <a:solidFill>
            <a:srgbClr val="104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137160" cy="777240"/>
          </a:xfrm>
          <a:prstGeom prst="rect">
            <a:avLst/>
          </a:prstGeom>
          <a:solidFill>
            <a:srgbClr val="D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02020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762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1212"/>
                </a:solidFill>
                <a:latin typeface="Arial"/>
              </a:defRPr>
            </a:pPr>
            <a:r>
              <a:t>React · Vite · Tailwind Bauhaus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80360"/>
            <a:ext cx="137160" cy="777240"/>
          </a:xfrm>
          <a:prstGeom prst="rect">
            <a:avLst/>
          </a:prstGeom>
          <a:solidFill>
            <a:srgbClr val="104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40C0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278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1212"/>
                </a:solidFill>
                <a:latin typeface="Arial"/>
              </a:defRPr>
            </a:pPr>
            <a:r>
              <a:t>Node · Express · OpenAI SDK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31920"/>
            <a:ext cx="137160" cy="777240"/>
          </a:xfrm>
          <a:prstGeom prst="rect">
            <a:avLst/>
          </a:prstGeom>
          <a:solidFill>
            <a:srgbClr val="F0C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20"/>
                </a:solidFill>
                <a:latin typeface="Arial"/>
              </a:defRPr>
            </a:pPr>
            <a:r>
              <a:t>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793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1212"/>
                </a:solidFill>
                <a:latin typeface="Arial"/>
              </a:defRPr>
            </a:pPr>
            <a:r>
              <a:t>Realtime WebRTC · Whisper · TTS cedar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983479"/>
            <a:ext cx="137160" cy="7772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983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1212"/>
                </a:solidFill>
                <a:latin typeface="Arial"/>
              </a:defRPr>
            </a:pPr>
            <a:r>
              <a:t>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30951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1212"/>
                </a:solidFill>
                <a:latin typeface="Arial"/>
              </a:defRPr>
            </a:pPr>
            <a:r>
              <a:t>Vercel demo UI · Localhost live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40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F0C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TrueComplaint AI · Rakshak · Eye Clinic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Arial"/>
              </a:defRPr>
            </a:pPr>
            <a:r>
              <a:t>Demo: localhost  ·  UI: Vercel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